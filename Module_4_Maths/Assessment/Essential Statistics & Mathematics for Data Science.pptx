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18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46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94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3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6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38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49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22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67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3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11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083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47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220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670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55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0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468D93D-EDA8-4148-92FE-03BB4B9512C7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3C21756-F767-4750-A60A-3E0512446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47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Normal&amp;sca_esv=5d085823238c1b6c&amp;sxsrf=AE3TifMgdFXPpEvtNG2iUtQjlXExZddGpg%3A1766239439567&amp;ei=z6xGaYGpIr-a4-EPjM6P-A0&amp;ved=2ahUKEwiV_5TWqsyRAxW8RmwGHU-GL-IQgK4QegQICxAD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2" Type="http://schemas.openxmlformats.org/officeDocument/2006/relationships/hyperlink" Target="https://www.google.com/search?q=Conditional+Probability&amp;sca_esv=5d085823238c1b6c&amp;sxsrf=AE3TifMgdFXPpEvtNG2iUtQjlXExZddGpg%3A1766239439567&amp;ei=z6xGaYGpIr-a4-EPjM6P-A0&amp;ved=2ahUKEwiV_5TWqsyRAxW8RmwGHU-GL-IQgK4QegQICxAB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Poisson&amp;sca_esv=5d085823238c1b6c&amp;sxsrf=AE3TifMgdFXPpEvtNG2iUtQjlXExZddGpg%3A1766239439567&amp;ei=z6xGaYGpIr-a4-EPjM6P-A0&amp;ved=2ahUKEwiV_5TWqsyRAxW8RmwGHU-GL-IQgK4QegQICxAE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Markov+Decision+Processes&amp;sca_esv=5d085823238c1b6c&amp;sxsrf=AE3TifMgdFXPpEvtNG2iUtQjlXExZddGpg%3A1766239439567&amp;ei=z6xGaYGpIr-a4-EPjM6P-A0&amp;ved=2ahUKEwiV_5TWqsyRAxW8RmwGHU-GL-IQgK4QegQIDRAK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3" Type="http://schemas.openxmlformats.org/officeDocument/2006/relationships/hyperlink" Target="https://www.google.com/search?q=Regression&amp;sca_esv=5d085823238c1b6c&amp;sxsrf=AE3TifMgdFXPpEvtNG2iUtQjlXExZddGpg%3A1766239439567&amp;ei=z6xGaYGpIr-a4-EPjM6P-A0&amp;ved=2ahUKEwiV_5TWqsyRAxW8RmwGHU-GL-IQgK4QegQIDRAD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7" Type="http://schemas.openxmlformats.org/officeDocument/2006/relationships/hyperlink" Target="https://www.google.com/search?q=Reinforcement+Learning&amp;sca_esv=5d085823238c1b6c&amp;sxsrf=AE3TifMgdFXPpEvtNG2iUtQjlXExZddGpg%3A1766239439567&amp;ei=z6xGaYGpIr-a4-EPjM6P-A0&amp;ved=2ahUKEwiV_5TWqsyRAxW8RmwGHU-GL-IQgK4QegQIDRAJ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2" Type="http://schemas.openxmlformats.org/officeDocument/2006/relationships/hyperlink" Target="https://www.google.com/search?q=Classification&amp;sca_esv=5d085823238c1b6c&amp;sxsrf=AE3TifMgdFXPpEvtNG2iUtQjlXExZddGpg%3A1766239439567&amp;ei=z6xGaYGpIr-a4-EPjM6P-A0&amp;ved=2ahUKEwiV_5TWqsyRAxW8RmwGHU-GL-IQgK4QegQIDRAB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Variational+Autoencoders&amp;sca_esv=5d085823238c1b6c&amp;sxsrf=AE3TifMgdFXPpEvtNG2iUtQjlXExZddGpg%3A1766239439567&amp;ei=z6xGaYGpIr-a4-EPjM6P-A0&amp;ved=2ahUKEwiV_5TWqsyRAxW8RmwGHU-GL-IQgK4QegQIDRAH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5" Type="http://schemas.openxmlformats.org/officeDocument/2006/relationships/hyperlink" Target="https://www.google.com/search?q=GANs&amp;sca_esv=5d085823238c1b6c&amp;sxsrf=AE3TifMgdFXPpEvtNG2iUtQjlXExZddGpg%3A1766239439567&amp;ei=z6xGaYGpIr-a4-EPjM6P-A0&amp;ved=2ahUKEwiV_5TWqsyRAxW8RmwGHU-GL-IQgK4QegQIDRAG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4" Type="http://schemas.openxmlformats.org/officeDocument/2006/relationships/hyperlink" Target="https://www.google.com/search?q=Generative+Models&amp;sca_esv=5d085823238c1b6c&amp;sxsrf=AE3TifMgdFXPpEvtNG2iUtQjlXExZddGpg%3A1766239439567&amp;ei=z6xGaYGpIr-a4-EPjM6P-A0&amp;ved=2ahUKEwiV_5TWqsyRAxW8RmwGHU-GL-IQgK4QegQIDRAF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Cross-Entropy+Loss&amp;sca_esv=5d085823238c1b6c&amp;sxsrf=AE3TifMgdFXPpEvtNG2iUtQjlXExZddGpg%3A1766239439567&amp;ei=z6xGaYGpIr-a4-EPjM6P-A0&amp;ved=2ahUKEwiV_5TWqsyRAxW8RmwGHU-GL-IQgK4QegQIERAE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2" Type="http://schemas.openxmlformats.org/officeDocument/2006/relationships/hyperlink" Target="https://www.google.com/search?q=Maximum+Likelihood+Estimation&amp;sca_esv=5d085823238c1b6c&amp;sxsrf=AE3TifMgdFXPpEvtNG2iUtQjlXExZddGpg%3A1766239439567&amp;ei=z6xGaYGpIr-a4-EPjM6P-A0&amp;ved=2ahUKEwiV_5TWqsyRAxW8RmwGHU-GL-IQgK4QegQIERAB&amp;uact=5&amp;oq=2.+Presentation%3A+Importance+of+Probability+in+Machine+Learning+ppt&amp;gs_lp=Egxnd3Mtd2l6LXNlcnAiQjIuIFByZXNlbnRhdGlvbjogSW1wb3J0YW5jZSBvZiBQcm9iYWJpbGl0eSBpbiBNYWNoaW5lIExlYXJuaW5nIHBwdEjkFVCZAli7EXABeAGQAQCYAfsBoAHvBqoBBTAuMS4zuAEDyAEA-AEBmAICoALhAcICBxAjGLADGCfCAgoQABiwAxjWBBhHwgIEECMYJ5gDAIgGAZAGCZIHBTEuMC4xoAf0BbIHAzItMbgH2AHCBwUwLjEuMcgHCoAIAA&amp;sclient=gws-wiz-serp&amp;zx=1766239447873&amp;no_sw_cr=1&amp;mstk=AUtExfB85sH0wdwCRF4GuZPDvanDBNFkxS1mfR8rFAYVy4xN6EOjZVxkfq_DLSr8IHtOKSiSf68KqFzDTovZeeJ0pk8Xqym3D7NAjLiIh6lpMGAz2bKMa7xSbd7jqZIdg_0e3AxkmpOtBZpIhNh7TzOB8syUI__8S2-nEuYm57kWfKsc_j8BnTCxNAYOP49oEEwC59I7zXU4r1InTwXUuiC8l68DFurJLOc3UstjZrfEbcs56D7xLqC1I9SXJ_R5C5o01BDqv_t3-_I5bqPQc3S9dkIgr3gJ9Co8gxgTpJH1WcubPf_4yNsGMB-CLlt0HVBKXVxWOZdKaVMjPl6wl7Zy1d_0WsHvdcYb8SM_L-Ol2Egiw0n_3eyLcH0yFrcz-61HEWk3S1_b8eNSuROncFLbCw&amp;csui=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AA80-34AF-7498-E240-75A4C150C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Essential Statistics &amp; Mathematics for Data Science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937B7-336B-D844-C927-2A5D999DF8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>
              <a:latin typeface="Cooper Black" panose="0208090404030B020404" pitchFamily="18" charset="0"/>
            </a:endParaRPr>
          </a:p>
          <a:p>
            <a:r>
              <a:rPr lang="en-US" sz="3600" dirty="0">
                <a:latin typeface="Cooper Black" panose="0208090404030B020404" pitchFamily="18" charset="0"/>
              </a:rPr>
              <a:t>Presented by: Rajeet patel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36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207C-DF4C-B59A-00EE-FB11B93F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Probability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D4E8F-ADCB-5A75-499C-1578A522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measure of how likely an event is to occur</a:t>
            </a:r>
          </a:p>
          <a:p>
            <a:pPr marL="0" indent="0">
              <a:buNone/>
            </a:pPr>
            <a:r>
              <a:rPr lang="en-US" dirty="0"/>
              <a:t>                           (0 = impossible, 1 = certain).</a:t>
            </a:r>
          </a:p>
          <a:p>
            <a:r>
              <a:rPr lang="en-US" b="1" dirty="0"/>
              <a:t>Key Terms:</a:t>
            </a:r>
            <a:r>
              <a:rPr lang="en-US" dirty="0"/>
              <a:t> Sample Space, Events, Random Variables     </a:t>
            </a:r>
          </a:p>
          <a:p>
            <a:pPr marL="0" indent="0">
              <a:buNone/>
            </a:pPr>
            <a:r>
              <a:rPr lang="en-US" dirty="0"/>
              <a:t>                            (Discrete/Continuous).</a:t>
            </a:r>
          </a:p>
          <a:p>
            <a:r>
              <a:rPr lang="en-US" b="1" dirty="0"/>
              <a:t>Core Idea:</a:t>
            </a:r>
            <a:r>
              <a:rPr lang="en-US" dirty="0"/>
              <a:t> Quantifying uncertainty in uncertain world.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80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E917-B237-8C61-367F-DED77EEC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as the Foundation of 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42FB5-673E-A707-B768-ABE057B19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Uncertainty:</a:t>
            </a:r>
            <a:r>
              <a:rPr lang="en-US" dirty="0"/>
              <a:t> ML deals with noisy, incomplete data; probability   </a:t>
            </a:r>
          </a:p>
          <a:p>
            <a:pPr marL="0" indent="0">
              <a:buNone/>
            </a:pPr>
            <a:r>
              <a:rPr lang="en-US" dirty="0"/>
              <a:t>                               helps model this uncertainty.</a:t>
            </a:r>
          </a:p>
          <a:p>
            <a:r>
              <a:rPr lang="en-US" b="1" dirty="0"/>
              <a:t>Core Principle:</a:t>
            </a:r>
            <a:r>
              <a:rPr lang="en-US" dirty="0"/>
              <a:t> Models learn patterns by assigning probabilities </a:t>
            </a:r>
          </a:p>
          <a:p>
            <a:pPr marL="0" indent="0">
              <a:buNone/>
            </a:pPr>
            <a:r>
              <a:rPr lang="en-US" dirty="0"/>
              <a:t>                                     to outcomes.</a:t>
            </a:r>
          </a:p>
          <a:p>
            <a:r>
              <a:rPr lang="en-US" b="1" dirty="0"/>
              <a:t>Not just Statistics:</a:t>
            </a:r>
            <a:r>
              <a:rPr lang="en-US" dirty="0"/>
              <a:t> It's the language for describing data and </a:t>
            </a:r>
          </a:p>
          <a:p>
            <a:pPr marL="0" indent="0">
              <a:buNone/>
            </a:pPr>
            <a:r>
              <a:rPr lang="en-US" dirty="0"/>
              <a:t>                                             model confidence.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78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BDEF-D5BA-C7D5-6112-389D3059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72C0AC-8E6E-43B1-A5B4-FAC0BE9B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Concepts &amp; ML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E5930-65EB-623A-CE00-0219A596B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Conditional Probability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&amp; Bayes' Theorem: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Core of many  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algorithms (e.g., Naive Bayes for text classification).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Probability Distributions: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Representing data (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Normal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, 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Poisson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             (e.g., Gaussian Mixture Models).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Random Variables: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Models outcomes (e.g., predicting "Spam" or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"Not Spam").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35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9A5E-9C04-4D3A-7A40-C59AB0B0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E1FC5-14A8-7548-9375-A8CA887E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Where Probability Shines in 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DE492-4182-5FAE-7EDC-2C4222CC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Classification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Logistic Regression (predicts probability of class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membership), Naive Bayes.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Regression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Quantifying error/uncertainty in predictions.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Models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GANs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, 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Variational Autoencoders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(learning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 data distributions).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Reinforcement Learning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rgbClr val="467886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Markov Decision Processes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             </a:t>
            </a:r>
            <a:r>
              <a:rPr lang="en-IN" dirty="0"/>
              <a:t>(probabilities of state transitions)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43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C7F8-096E-E8D3-0FAB-8BA4A93F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AC74-13BC-176A-8971-FBA38FA5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Beyond Algorithms: Model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9E3AA-4556-08A4-711B-2487EA099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Likelihood: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How well a model fits the data (e.g., 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Maximum 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Likelihood Estimation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Confidence Intervals: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Expressing prediction certainty (e.g., 95% confidence).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Cross-Entropy Loss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Measuring model error using probabilities.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930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82DE3-F044-0745-C027-15604F7CD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7929-221A-29E2-90DD-7447CBD4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Conclusion: The Indispensable Tool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FAB5-44BC-585D-2343-EFFE7FE7E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isn't just a math concept; it's the </a:t>
            </a:r>
            <a:r>
              <a:rPr lang="en-US" b="1" dirty="0"/>
              <a:t>engine</a:t>
            </a:r>
            <a:r>
              <a:rPr lang="en-US" dirty="0"/>
              <a:t> for learning from data under uncertainty.</a:t>
            </a:r>
          </a:p>
          <a:p>
            <a:r>
              <a:rPr lang="en-US" dirty="0"/>
              <a:t>It enables principled decision-making and model interpretation in ML.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17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62B3-4844-3CD8-C23A-4198A62F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141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14419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</TotalTime>
  <Words>318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Cooper Black</vt:lpstr>
      <vt:lpstr>Wingdings 3</vt:lpstr>
      <vt:lpstr>Ion Boardroom</vt:lpstr>
      <vt:lpstr>Essential Statistics &amp; Mathematics for Data Science</vt:lpstr>
      <vt:lpstr>What is Probability</vt:lpstr>
      <vt:lpstr>Probability as the Foundation of ML</vt:lpstr>
      <vt:lpstr>Key Concepts &amp; ML Applications</vt:lpstr>
      <vt:lpstr> Where Probability Shines in ML</vt:lpstr>
      <vt:lpstr>Beyond Algorithms: Model Evaluation</vt:lpstr>
      <vt:lpstr>Conclusion: The Indispensable Tool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rajeet patel</dc:creator>
  <cp:lastModifiedBy>rajeet patel</cp:lastModifiedBy>
  <cp:revision>1</cp:revision>
  <dcterms:created xsi:type="dcterms:W3CDTF">2025-12-21T13:13:18Z</dcterms:created>
  <dcterms:modified xsi:type="dcterms:W3CDTF">2025-12-21T13:31:21Z</dcterms:modified>
</cp:coreProperties>
</file>